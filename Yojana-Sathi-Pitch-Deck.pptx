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 950+ schemes exist, but the poorest citizens don't know what they qualify for. We built the missing last mile: a chatbot that speaks their language. 30-second framing, then move fast 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is not policy. Money is allocated; schemes are live. The failure is awareness and access: language, personalisation, and documents. Each card is one failure point on the last mile.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Demo-ready answer to the brief: at least two regional languages (we do three including English), 8-10 schemes (we do ten), 4-6 questions (we ask five), and a downloadable, SMS-able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live demo here if time allows. Emphasise: no typing needed, everything is a tap, and the whole journey is under two minutes even for a first-time smartphone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features judges should remember: the dual engine (the demo works with zero internet and zero API cost) and grounding (the AI cannot hallucinate a scheme or an amount, because it only knows the verified catalogue).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Selection criteria: highest beneficiary counts, direct cash or in-kind benefit, and coverage across life stages — farmer, mother, child, entrepreneur, senior citizen. Facts verified June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Anticipate the 'how will this scale' question: a static file scales infinitely for free. Anticipate 'what about AI errors': the LLM only sees our verified catalogue and is instructed to refuse anything outside it; offline mode is fully deterministic.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loop on the challenge requirements line by line, then humanise with the right-side stories. If judges remember one thing: this is deployable today, at zero cost, by any NSS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tagline. Offer the live demo link (GitHub Pages / Netlify) and the QR if printed. Total pitch time target: 5 minutes +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640080"/>
            <a:ext cx="201168" cy="201168"/>
          </a:xfrm>
          <a:prstGeom prst="ellipse">
            <a:avLst/>
          </a:prstGeom>
          <a:solidFill>
            <a:srgbClr val="E87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" y="640080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35024" y="640080"/>
            <a:ext cx="201168" cy="201168"/>
          </a:xfrm>
          <a:prstGeom prst="ellipse">
            <a:avLst/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766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mbria"/>
              </a:rPr>
              <a:t>Yojana Sathi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Calibri"/>
              </a:rPr>
              <a:t>AI-Based Multilingual Chatbot for Welfare Scheme 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E8740C"/>
                </a:solidFill>
                <a:latin typeface="Calibri"/>
              </a:rPr>
              <a:t>“No new policy needed — only better last-mile delivery.”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Challenge 1.1  •  NSS Open Projects 2026  •  Amar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188720"/>
            <a:ext cx="3977639" cy="4480560"/>
          </a:xfrm>
          <a:prstGeom prst="roundRect">
            <a:avLst>
              <a:gd name="adj" fmla="val 6000"/>
            </a:avLst>
          </a:prstGeom>
          <a:solidFill>
            <a:srgbClr val="2A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0" y="1463040"/>
            <a:ext cx="274320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591056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42B38"/>
                </a:solidFill>
                <a:latin typeface="Calibri"/>
              </a:rPr>
              <a:t>नमस्ते! मैं योजना साथी हूँ 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2331720"/>
            <a:ext cx="2743200" cy="685800"/>
          </a:xfrm>
          <a:prstGeom prst="roundRect">
            <a:avLst>
              <a:gd name="adj" fmla="val 25000"/>
            </a:avLst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459736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నేను రైతును, 62 ఏళ్లు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200400"/>
            <a:ext cx="3063240" cy="9601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3310128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7A3A"/>
                </a:solidFill>
                <a:latin typeface="Calibri"/>
              </a:rPr>
              <a:t>✔ PM-KISAN — ₹6,000/yr</a:t>
            </a:r>
          </a:p>
          <a:p>
            <a:pPr algn="l"/>
            <a:r>
              <a:rPr sz="1200" b="1" i="0">
                <a:solidFill>
                  <a:srgbClr val="1A7A3A"/>
                </a:solidFill>
                <a:latin typeface="Calibri"/>
              </a:rPr>
              <a:t>✔ వృద్ధాప్య పెన్షన్ (NSAP)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4434840"/>
            <a:ext cx="2377440" cy="548640"/>
          </a:xfrm>
          <a:prstGeom prst="roundRect">
            <a:avLst>
              <a:gd name="adj" fmla="val 30000"/>
            </a:avLst>
          </a:prstGeom>
          <a:solidFill>
            <a:srgbClr val="E87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454456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⬇ Download checklist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F3B6E"/>
                </a:solidFill>
                <a:latin typeface="Cambria"/>
              </a:rPr>
              <a:t>Schemes exist. Awareness doesn’t.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657600" cy="475488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1F3B6E"/>
                </a:solidFill>
                <a:latin typeface="Cambria"/>
              </a:rPr>
              <a:t>950+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42B38"/>
                </a:solidFill>
                <a:latin typeface="Calibri"/>
              </a:rPr>
              <a:t>central &amp; state welfare schemes in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E6878"/>
                </a:solidFill>
                <a:latin typeface="Calibri"/>
              </a:rPr>
              <a:t>Most eligible citizens can name fewer than ten — and claim even fewer.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25880"/>
            <a:ext cx="7040880" cy="1463040"/>
          </a:xfrm>
          <a:prstGeom prst="roundRect">
            <a:avLst>
              <a:gd name="adj" fmla="val 10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46320" y="1737360"/>
            <a:ext cx="640080" cy="640080"/>
          </a:xfrm>
          <a:prstGeom prst="ellipse">
            <a:avLst/>
          </a:prstGeom>
          <a:solidFill>
            <a:srgbClr val="E87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52704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2B38"/>
                </a:solidFill>
                <a:latin typeface="Cambria"/>
              </a:rPr>
              <a:t>Language barrier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947672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E6878"/>
                </a:solidFill>
                <a:latin typeface="Calibri"/>
              </a:rPr>
              <a:t>Portals and forms are English- and Hindi-first. Crores of citizens are most comfortable in Telugu, Tamil, Bengali…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971800"/>
            <a:ext cx="7040880" cy="146304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46320" y="3383280"/>
            <a:ext cx="640080" cy="64008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17296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2B38"/>
                </a:solidFill>
                <a:latin typeface="Cambria"/>
              </a:rPr>
              <a:t>No personalised guidance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593592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E6878"/>
                </a:solidFill>
                <a:latin typeface="Calibri"/>
              </a:rPr>
              <a:t>“Am I eligible?” has no easy answer — rules differ by age, income, gender, occupation and land.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617720"/>
            <a:ext cx="7040880" cy="1463040"/>
          </a:xfrm>
          <a:prstGeom prst="roundRect">
            <a:avLst>
              <a:gd name="adj" fmla="val 10000"/>
            </a:avLst>
          </a:prstGeom>
          <a:solidFill>
            <a:srgbClr val="E9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46320" y="5029200"/>
            <a:ext cx="640080" cy="640080"/>
          </a:xfrm>
          <a:prstGeom prst="ellipse">
            <a:avLst/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81888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2B38"/>
                </a:solidFill>
                <a:latin typeface="Cambria"/>
              </a:rPr>
              <a:t>Document confusion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5239512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E6878"/>
                </a:solidFill>
                <a:latin typeface="Calibri"/>
              </a:rPr>
              <a:t>People travel to offices without the right papers, get turned away, and give 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F3B6E"/>
                </a:solidFill>
                <a:latin typeface="Cambria"/>
              </a:rPr>
              <a:t>Meet Yojana Sathi — a guide in your own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47548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42B38"/>
                </a:solidFill>
                <a:latin typeface="Calibri"/>
              </a:rPr>
              <a:t>A chat companion that any citizen can open in a browser — no app store, no sign-up, no reading-heavy forms.</a:t>
            </a:r>
          </a:p>
          <a:p>
            <a:pPr algn="l"/>
            <a:r>
              <a:rPr sz="1600" b="0" i="0">
                <a:solidFill>
                  <a:srgbClr val="242B38"/>
                </a:solidFill>
                <a:latin typeface="Calibri"/>
              </a:rPr>
              <a:t>It asks a few simple questions, finds the schemes you qualify for, and hands you a checklist of exactly which papers to carry.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977639"/>
            <a:ext cx="4754880" cy="2103120"/>
          </a:xfrm>
          <a:prstGeom prst="roundRect">
            <a:avLst>
              <a:gd name="adj" fmla="val 8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40C"/>
                </a:solidFill>
                <a:latin typeface="Cambria"/>
              </a:rPr>
              <a:t>Built for low literacy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42062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42B38"/>
                </a:solidFill>
                <a:latin typeface="Calibri"/>
              </a:rPr>
              <a:t>Tap-button answers instead of typing. Voice input and read-aloud replies. Short sentences, simple words.</a:t>
            </a:r>
          </a:p>
        </p:txBody>
      </p:sp>
      <p:sp>
        <p:nvSpPr>
          <p:cNvPr id="7" name="Oval 6"/>
          <p:cNvSpPr/>
          <p:nvPr/>
        </p:nvSpPr>
        <p:spPr>
          <a:xfrm>
            <a:off x="5852160" y="1353312"/>
            <a:ext cx="566928" cy="566928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2B38"/>
                </a:solidFill>
                <a:latin typeface="Cambria"/>
              </a:rPr>
              <a:t>3 languages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64207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E6878"/>
                </a:solidFill>
                <a:latin typeface="Calibri"/>
              </a:rPr>
              <a:t>English, Hindi and Telugu — every button, question and checklist fully translated.</a:t>
            </a:r>
          </a:p>
        </p:txBody>
      </p:sp>
      <p:sp>
        <p:nvSpPr>
          <p:cNvPr id="10" name="Oval 9"/>
          <p:cNvSpPr/>
          <p:nvPr/>
        </p:nvSpPr>
        <p:spPr>
          <a:xfrm>
            <a:off x="5852160" y="2569464"/>
            <a:ext cx="566928" cy="566928"/>
          </a:xfrm>
          <a:prstGeom prst="ellipse">
            <a:avLst/>
          </a:prstGeom>
          <a:solidFill>
            <a:srgbClr val="E87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963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2B38"/>
                </a:solidFill>
                <a:latin typeface="Cambria"/>
              </a:rPr>
              <a:t>10 high-impact schemes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880360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E6878"/>
                </a:solidFill>
                <a:latin typeface="Calibri"/>
              </a:rPr>
              <a:t>A focused catalogue — PM-KISAN, Ayushman Bharat, Ujjwala, pensions — not all 950.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0" y="3785616"/>
            <a:ext cx="566928" cy="566928"/>
          </a:xfrm>
          <a:prstGeom prst="ellipse">
            <a:avLst/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71246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2B38"/>
                </a:solidFill>
                <a:latin typeface="Cambria"/>
              </a:rPr>
              <a:t>5 simple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096512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E6878"/>
                </a:solidFill>
                <a:latin typeface="Calibri"/>
              </a:rPr>
              <a:t>Age, gender, work, income, household — returns a personalised shortlist with reasons.</a:t>
            </a:r>
          </a:p>
        </p:txBody>
      </p:sp>
      <p:sp>
        <p:nvSpPr>
          <p:cNvPr id="16" name="Oval 15"/>
          <p:cNvSpPr/>
          <p:nvPr/>
        </p:nvSpPr>
        <p:spPr>
          <a:xfrm>
            <a:off x="5852160" y="5001768"/>
            <a:ext cx="566928" cy="566928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92861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2B38"/>
                </a:solidFill>
                <a:latin typeface="Cambria"/>
              </a:rPr>
              <a:t>Instant document checklist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312664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E6878"/>
                </a:solidFill>
                <a:latin typeface="Calibri"/>
              </a:rPr>
              <a:t>Downloadable and SMS-able, in the user’s language, scheme by scheme.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F3B6E"/>
                </a:solidFill>
                <a:latin typeface="Cambria"/>
              </a:rPr>
              <a:t>Four taps from confusion to checklist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514600" cy="228600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2B38"/>
                </a:solidFill>
                <a:latin typeface="Cambria"/>
              </a:rPr>
              <a:t>Choose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17520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878"/>
                </a:solidFill>
                <a:latin typeface="Calibri"/>
              </a:rPr>
              <a:t>EN • हिंदी • తెలుగు toggle, one tap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08960" y="2468880"/>
            <a:ext cx="292608" cy="292608"/>
          </a:xfrm>
          <a:prstGeom prst="rightArrow">
            <a:avLst/>
          </a:prstGeom>
          <a:solidFill>
            <a:srgbClr val="E87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47288" y="1463040"/>
            <a:ext cx="2514600" cy="2286000"/>
          </a:xfrm>
          <a:prstGeom prst="roundRect">
            <a:avLst>
              <a:gd name="adj" fmla="val 10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75887" y="1691640"/>
            <a:ext cx="548640" cy="548640"/>
          </a:xfrm>
          <a:prstGeom prst="ellipse">
            <a:avLst/>
          </a:prstGeom>
          <a:solidFill>
            <a:srgbClr val="E87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42316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2B38"/>
                </a:solidFill>
                <a:latin typeface="Cambria"/>
              </a:rPr>
              <a:t>Answer 5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3017520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878"/>
                </a:solidFill>
                <a:latin typeface="Calibri"/>
              </a:rPr>
              <a:t>Age, gender, work, income, household — all tap-buttons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07608" y="2468880"/>
            <a:ext cx="292608" cy="292608"/>
          </a:xfrm>
          <a:prstGeom prst="rightArrow">
            <a:avLst/>
          </a:prstGeom>
          <a:solidFill>
            <a:srgbClr val="E87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45936" y="1463040"/>
            <a:ext cx="2514600" cy="228600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74536" y="1691640"/>
            <a:ext cx="548640" cy="54864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42316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2B38"/>
                </a:solidFill>
                <a:latin typeface="Cambria"/>
              </a:rPr>
              <a:t>Get your shortlist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3017520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878"/>
                </a:solidFill>
                <a:latin typeface="Calibri"/>
              </a:rPr>
              <a:t>Schemes you qualify for, why, and where to apply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06255" y="2468880"/>
            <a:ext cx="292608" cy="292608"/>
          </a:xfrm>
          <a:prstGeom prst="rightArrow">
            <a:avLst/>
          </a:prstGeom>
          <a:solidFill>
            <a:srgbClr val="E87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44584" y="1463040"/>
            <a:ext cx="2514600" cy="2286000"/>
          </a:xfrm>
          <a:prstGeom prst="roundRect">
            <a:avLst>
              <a:gd name="adj" fmla="val 10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73184" y="1691640"/>
            <a:ext cx="548640" cy="548640"/>
          </a:xfrm>
          <a:prstGeom prst="ellipse">
            <a:avLst/>
          </a:prstGeom>
          <a:solidFill>
            <a:srgbClr val="E87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242316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42B38"/>
                </a:solidFill>
                <a:latin typeface="Cambria"/>
              </a:rPr>
              <a:t>Take the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3184" y="3017520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878"/>
                </a:solidFill>
                <a:latin typeface="Calibri"/>
              </a:rPr>
              <a:t>Download as text or share by SMS — carry it to the CSC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E6878"/>
                </a:solidFill>
                <a:latin typeface="Calibri"/>
              </a:rPr>
              <a:t>What the user actually taps: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1636776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74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75488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8740C"/>
                </a:solidFill>
                <a:latin typeface="Calibri"/>
              </a:rPr>
              <a:t>किसान (Farmer)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14016" y="4663440"/>
            <a:ext cx="2212848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74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23744" y="4754880"/>
            <a:ext cx="199339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8740C"/>
                </a:solidFill>
                <a:latin typeface="Calibri"/>
              </a:rPr>
              <a:t>60 లేదా ఎక్కువ (60+)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55464" y="4663440"/>
            <a:ext cx="1540764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74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65192" y="4754880"/>
            <a:ext cx="13213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8740C"/>
                </a:solidFill>
                <a:latin typeface="Calibri"/>
              </a:rPr>
              <a:t>महिला (Woman)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4828" y="4663440"/>
            <a:ext cx="134874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74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34556" y="4754880"/>
            <a:ext cx="11292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8740C"/>
                </a:solidFill>
                <a:latin typeface="Calibri"/>
              </a:rPr>
              <a:t>BPL कार्ड 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02168" y="466344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74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1896" y="4754880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8740C"/>
                </a:solidFill>
                <a:latin typeface="Calibri"/>
              </a:rPr>
              <a:t>పక్కా ఇల్లు లేదు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5778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7A3A"/>
                </a:solidFill>
                <a:latin typeface="Calibri"/>
              </a:rPr>
              <a:t>Average journey: under 90 seconds — no typing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F3B6E"/>
                </a:solidFill>
                <a:latin typeface="Cambria"/>
              </a:rPr>
              <a:t>What’s under the hood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611880" cy="2103120"/>
          </a:xfrm>
          <a:prstGeom prst="roundRect">
            <a:avLst>
              <a:gd name="adj" fmla="val 9000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664208"/>
            <a:ext cx="2514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B38"/>
                </a:solidFill>
                <a:latin typeface="Cambria"/>
              </a:rPr>
              <a:t>Fully multilingual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878"/>
                </a:solidFill>
                <a:latin typeface="Calibri"/>
              </a:rPr>
              <a:t>UI, questions, schemes and checklists in EN/HI/TE — adding a language is a data change, not a rewrite.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371600"/>
            <a:ext cx="3611880" cy="2103120"/>
          </a:xfrm>
          <a:prstGeom prst="roundRect">
            <a:avLst>
              <a:gd name="adj" fmla="val 9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81144" y="1600200"/>
            <a:ext cx="502920" cy="502920"/>
          </a:xfrm>
          <a:prstGeom prst="ellipse">
            <a:avLst/>
          </a:prstGeom>
          <a:solidFill>
            <a:srgbClr val="E87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1224" y="1664208"/>
            <a:ext cx="2514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B38"/>
                </a:solidFill>
                <a:latin typeface="Cambria"/>
              </a:rPr>
              <a:t>Voice in &amp;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24028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878"/>
                </a:solidFill>
                <a:latin typeface="Calibri"/>
              </a:rPr>
              <a:t>Speak your answer; the bot reads replies aloud — in all three languages.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1371600"/>
            <a:ext cx="3611880" cy="2103120"/>
          </a:xfrm>
          <a:prstGeom prst="roundRect">
            <a:avLst>
              <a:gd name="adj" fmla="val 9000"/>
            </a:avLst>
          </a:prstGeom>
          <a:solidFill>
            <a:srgbClr val="E9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5048" y="1600200"/>
            <a:ext cx="502920" cy="502920"/>
          </a:xfrm>
          <a:prstGeom prst="ellipse">
            <a:avLst/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5128" y="1664208"/>
            <a:ext cx="2514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B38"/>
                </a:solidFill>
                <a:latin typeface="Cambria"/>
              </a:rPr>
              <a:t>Dual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24028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878"/>
                </a:solidFill>
                <a:latin typeface="Calibri"/>
              </a:rPr>
              <a:t>Claude-powered free chat when online, rule-based guided flow fully offline — the demo never breaks.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3611880" cy="2103120"/>
          </a:xfrm>
          <a:prstGeom prst="roundRect">
            <a:avLst>
              <a:gd name="adj" fmla="val 9000"/>
            </a:avLst>
          </a:prstGeom>
          <a:solidFill>
            <a:srgbClr val="E9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4087368"/>
            <a:ext cx="2514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B38"/>
                </a:solidFill>
                <a:latin typeface="Cambria"/>
              </a:rPr>
              <a:t>Grounded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878"/>
                </a:solidFill>
                <a:latin typeface="Calibri"/>
              </a:rPr>
              <a:t>The LLM is locked to the verified scheme catalogue — it cannot invent benefit amounts or fake schemes.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3794760"/>
            <a:ext cx="3611880" cy="2103120"/>
          </a:xfrm>
          <a:prstGeom prst="roundRect">
            <a:avLst>
              <a:gd name="adj" fmla="val 9000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81144" y="4023360"/>
            <a:ext cx="502920" cy="50292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4087368"/>
            <a:ext cx="2514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B38"/>
                </a:solidFill>
                <a:latin typeface="Cambria"/>
              </a:rPr>
              <a:t>Tap-first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466344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878"/>
                </a:solidFill>
                <a:latin typeface="Calibri"/>
              </a:rPr>
              <a:t>Quick-reply buttons for every question — usable without reading or typing fluency.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6448" y="3794760"/>
            <a:ext cx="3611880" cy="2103120"/>
          </a:xfrm>
          <a:prstGeom prst="roundRect">
            <a:avLst>
              <a:gd name="adj" fmla="val 9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85048" y="4023360"/>
            <a:ext cx="502920" cy="502920"/>
          </a:xfrm>
          <a:prstGeom prst="ellipse">
            <a:avLst/>
          </a:prstGeom>
          <a:solidFill>
            <a:srgbClr val="E87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4087368"/>
            <a:ext cx="2514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B38"/>
                </a:solidFill>
                <a:latin typeface="Cambria"/>
              </a:rPr>
              <a:t>Checklist to 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466344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878"/>
                </a:solidFill>
                <a:latin typeface="Calibri"/>
              </a:rPr>
              <a:t>One tap to download as a text file or share via SMS — works on any phone the family owns.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F3B6E"/>
                </a:solidFill>
                <a:latin typeface="Cambria"/>
              </a:rPr>
              <a:t>Ten schemes that move the needle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2176272" cy="196596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242B38"/>
                </a:solidFill>
                <a:latin typeface="Calibri"/>
              </a:rPr>
              <a:t>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901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F3B6E"/>
                </a:solidFill>
                <a:latin typeface="Cambria"/>
              </a:rPr>
              <a:t>PM-KISAN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901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E6878"/>
                </a:solidFill>
                <a:latin typeface="Calibri"/>
              </a:rPr>
              <a:t>₹6,000/yr for farmer families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66644" y="1417320"/>
            <a:ext cx="2176272" cy="1965960"/>
          </a:xfrm>
          <a:prstGeom prst="roundRect">
            <a:avLst>
              <a:gd name="adj" fmla="val 10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66644" y="160020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242B38"/>
                </a:solidFill>
                <a:latin typeface="Calibri"/>
              </a:rPr>
              <a:t>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3803" y="2148840"/>
            <a:ext cx="1901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F3B6E"/>
                </a:solidFill>
                <a:latin typeface="Cambria"/>
              </a:rPr>
              <a:t>Ayushman Bharat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3803" y="2651760"/>
            <a:ext cx="1901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E6878"/>
                </a:solidFill>
                <a:latin typeface="Calibri"/>
              </a:rPr>
              <a:t>₹5 lakh free health cover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84647" y="1417320"/>
            <a:ext cx="2176272" cy="1965960"/>
          </a:xfrm>
          <a:prstGeom prst="roundRect">
            <a:avLst>
              <a:gd name="adj" fmla="val 10000"/>
            </a:avLst>
          </a:prstGeom>
          <a:solidFill>
            <a:srgbClr val="E9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84647" y="160020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242B38"/>
                </a:solidFill>
                <a:latin typeface="Calibri"/>
              </a:rPr>
              <a:t>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7" y="2148840"/>
            <a:ext cx="1901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F3B6E"/>
                </a:solidFill>
                <a:latin typeface="Cambria"/>
              </a:rPr>
              <a:t>PM Awas (Gramin)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7" y="2651760"/>
            <a:ext cx="1901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E6878"/>
                </a:solidFill>
                <a:latin typeface="Calibri"/>
              </a:rPr>
              <a:t>₹1.2–1.3 lakh to build a house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2651" y="1417320"/>
            <a:ext cx="2176272" cy="196596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02651" y="160020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242B38"/>
                </a:solidFill>
                <a:latin typeface="Calibri"/>
              </a:rPr>
              <a:t>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9811" y="2148840"/>
            <a:ext cx="1901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F3B6E"/>
                </a:solidFill>
                <a:latin typeface="Cambria"/>
              </a:rPr>
              <a:t>Ujjwala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9811" y="2651760"/>
            <a:ext cx="1901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E6878"/>
                </a:solidFill>
                <a:latin typeface="Calibri"/>
              </a:rPr>
              <a:t>Free LPG in the woman’s name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0655" y="1417320"/>
            <a:ext cx="2176272" cy="1965960"/>
          </a:xfrm>
          <a:prstGeom prst="roundRect">
            <a:avLst>
              <a:gd name="adj" fmla="val 10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0655" y="160020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242B38"/>
                </a:solidFill>
                <a:latin typeface="Calibri"/>
              </a:rPr>
              <a:t>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57815" y="2148840"/>
            <a:ext cx="1901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F3B6E"/>
                </a:solidFill>
                <a:latin typeface="Cambria"/>
              </a:rPr>
              <a:t>Jan Dhan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57815" y="2651760"/>
            <a:ext cx="1901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E6878"/>
                </a:solidFill>
                <a:latin typeface="Calibri"/>
              </a:rPr>
              <a:t>Zero-balance account + insurance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03320"/>
            <a:ext cx="2176272" cy="1965960"/>
          </a:xfrm>
          <a:prstGeom prst="roundRect">
            <a:avLst>
              <a:gd name="adj" fmla="val 10000"/>
            </a:avLst>
          </a:prstGeom>
          <a:solidFill>
            <a:srgbClr val="E9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8620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242B38"/>
                </a:solidFill>
                <a:latin typeface="Calibri"/>
              </a:rPr>
              <a:t>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34840"/>
            <a:ext cx="1901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F3B6E"/>
                </a:solidFill>
                <a:latin typeface="Cambria"/>
              </a:rPr>
              <a:t>NSAP Pension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37760"/>
            <a:ext cx="1901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E6878"/>
                </a:solidFill>
                <a:latin typeface="Calibri"/>
              </a:rPr>
              <a:t>Monthly pension for 60+ BPL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66644" y="3703320"/>
            <a:ext cx="2176272" cy="196596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66644" y="388620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242B38"/>
                </a:solidFill>
                <a:latin typeface="Calibri"/>
              </a:rPr>
              <a:t>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3803" y="4434840"/>
            <a:ext cx="1901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F3B6E"/>
                </a:solidFill>
                <a:latin typeface="Cambria"/>
              </a:rPr>
              <a:t>Matru Vandana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03803" y="4937760"/>
            <a:ext cx="1901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E6878"/>
                </a:solidFill>
                <a:latin typeface="Calibri"/>
              </a:rPr>
              <a:t>₹5,000 for new mothers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84647" y="3703320"/>
            <a:ext cx="2176272" cy="1965960"/>
          </a:xfrm>
          <a:prstGeom prst="roundRect">
            <a:avLst>
              <a:gd name="adj" fmla="val 10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84647" y="388620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242B38"/>
                </a:solidFill>
                <a:latin typeface="Calibri"/>
              </a:rPr>
              <a:t>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1807" y="4434840"/>
            <a:ext cx="1901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F3B6E"/>
                </a:solidFill>
                <a:latin typeface="Cambria"/>
              </a:rPr>
              <a:t>Atal Pension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1807" y="4937760"/>
            <a:ext cx="1901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E6878"/>
                </a:solidFill>
                <a:latin typeface="Calibri"/>
              </a:rPr>
              <a:t>₹1k–5k/month after 60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02651" y="3703320"/>
            <a:ext cx="2176272" cy="1965960"/>
          </a:xfrm>
          <a:prstGeom prst="roundRect">
            <a:avLst>
              <a:gd name="adj" fmla="val 10000"/>
            </a:avLst>
          </a:prstGeom>
          <a:solidFill>
            <a:srgbClr val="E9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02651" y="388620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242B38"/>
                </a:solidFill>
                <a:latin typeface="Calibri"/>
              </a:rPr>
              <a:t>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9811" y="4434840"/>
            <a:ext cx="1901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F3B6E"/>
                </a:solidFill>
                <a:latin typeface="Cambria"/>
              </a:rPr>
              <a:t>Mudra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9811" y="4937760"/>
            <a:ext cx="1901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E6878"/>
                </a:solidFill>
                <a:latin typeface="Calibri"/>
              </a:rPr>
              <a:t>Business loans up to ₹10 lakh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20655" y="3703320"/>
            <a:ext cx="2176272" cy="1965960"/>
          </a:xfrm>
          <a:prstGeom prst="roundRect">
            <a:avLst>
              <a:gd name="adj" fmla="val 10000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0655" y="388620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242B38"/>
                </a:solidFill>
                <a:latin typeface="Calibri"/>
              </a:rPr>
              <a:t>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7815" y="4434840"/>
            <a:ext cx="1901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F3B6E"/>
                </a:solidFill>
                <a:latin typeface="Cambria"/>
              </a:rPr>
              <a:t>Sukanya Samriddhi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57815" y="4937760"/>
            <a:ext cx="1901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E6878"/>
                </a:solidFill>
                <a:latin typeface="Calibri"/>
              </a:rPr>
              <a:t>8.2% savings for girl child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E8740C"/>
                </a:solidFill>
                <a:latin typeface="Calibri"/>
              </a:rPr>
              <a:t>Focused beats exhaustive: ten well-explained schemes reach more people than 950 listed 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F3B6E"/>
                </a:solidFill>
                <a:latin typeface="Cambria"/>
              </a:rPr>
              <a:t>Radically simple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017520" cy="2194560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B6E"/>
                </a:solidFill>
                <a:latin typeface="Cambria"/>
              </a:rPr>
              <a:t>📱  Any 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42B38"/>
                </a:solidFill>
                <a:latin typeface="Calibri"/>
              </a:rPr>
              <a:t>One HTML file.
No app, no install,
no backend, no database.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03320" y="2606040"/>
            <a:ext cx="457200" cy="292608"/>
          </a:xfrm>
          <a:prstGeom prst="rightArrow">
            <a:avLst/>
          </a:prstGeom>
          <a:solidFill>
            <a:srgbClr val="E87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E9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46304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Cambria"/>
              </a:rPr>
              <a:t>🤖  LLM mode (online)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874519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E6878"/>
                </a:solidFill>
                <a:latin typeface="Calibri"/>
              </a:rPr>
              <a:t>Claude API, grounded on the catalogue; structured markers drive buttons &amp; checklists.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88036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301752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8740C"/>
                </a:solidFill>
                <a:latin typeface="Cambria"/>
              </a:rPr>
              <a:t>⚙  Rule engine (offline)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4290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E6878"/>
                </a:solidFill>
                <a:latin typeface="Calibri"/>
              </a:rPr>
              <a:t>Deterministic eligibility scoring over the same catalogue — zero cost, zero internet.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92440" y="2606040"/>
            <a:ext cx="457200" cy="292608"/>
          </a:xfrm>
          <a:prstGeom prst="rightArrow">
            <a:avLst/>
          </a:prstGeom>
          <a:solidFill>
            <a:srgbClr val="E87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0" y="1645920"/>
            <a:ext cx="2971800" cy="2194560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82880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B6E"/>
                </a:solidFill>
                <a:latin typeface="Cambria"/>
              </a:rPr>
              <a:t>✅ 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331720"/>
            <a:ext cx="2606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42B38"/>
                </a:solidFill>
                <a:latin typeface="Calibri"/>
              </a:rPr>
              <a:t>Personalised shortlist
+ document checklist
(download / SMS)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43400"/>
            <a:ext cx="11109960" cy="173736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26280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B6E"/>
                </a:solidFill>
                <a:latin typeface="Cambria"/>
              </a:rPr>
              <a:t>Why this matters for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834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2B38"/>
                </a:solidFill>
                <a:latin typeface="Calibri"/>
              </a:rPr>
              <a:t>Hosting cost: ₹0 on any static host (GitHub Pages / Netlify) • Privacy: no server ever sees user data; the API key stays in the browser</a:t>
            </a:r>
          </a:p>
          <a:p>
            <a:pPr algn="l"/>
            <a:r>
              <a:rPr sz="1300" b="0" i="0">
                <a:solidFill>
                  <a:srgbClr val="242B38"/>
                </a:solidFill>
                <a:latin typeface="Calibri"/>
              </a:rPr>
              <a:t>Maintainability: one data array holds all schemes &amp; translations — a new scheme or language is an afternoon’s work, not a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F3B6E"/>
                </a:solidFill>
                <a:latin typeface="Cambria"/>
              </a:rPr>
              <a:t>Everything the brief asked — delivered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481328"/>
            <a:ext cx="411480" cy="411480"/>
          </a:xfrm>
          <a:prstGeom prst="ellipse">
            <a:avLst/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B38"/>
                </a:solidFill>
                <a:latin typeface="Cambria"/>
              </a:rPr>
              <a:t>At least 2 regional languages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783080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E6878"/>
                </a:solidFill>
                <a:latin typeface="Calibri"/>
              </a:rPr>
              <a:t>3 languages: English + Hindi + Telugu, fully translated UI &amp; content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42616"/>
            <a:ext cx="411480" cy="411480"/>
          </a:xfrm>
          <a:prstGeom prst="ellipse">
            <a:avLst/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32888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B38"/>
                </a:solidFill>
                <a:latin typeface="Cambria"/>
              </a:rPr>
              <a:t>Focused catalogue of 8–10 schemes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44368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E6878"/>
                </a:solidFill>
                <a:latin typeface="Calibri"/>
              </a:rPr>
              <a:t>10 verified high-impact schemes across all life stages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803904"/>
            <a:ext cx="411480" cy="411480"/>
          </a:xfrm>
          <a:prstGeom prst="ellipse">
            <a:avLst/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94176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B38"/>
                </a:solidFill>
                <a:latin typeface="Cambria"/>
              </a:rPr>
              <a:t>4–6 question eligibility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10565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E6878"/>
                </a:solidFill>
                <a:latin typeface="Calibri"/>
              </a:rPr>
              <a:t>5 tap-button questions → personalised shortlist with reasons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965192"/>
            <a:ext cx="411480" cy="411480"/>
          </a:xfrm>
          <a:prstGeom prst="ellipse">
            <a:avLst/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855464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42B38"/>
                </a:solidFill>
                <a:latin typeface="Cambria"/>
              </a:rPr>
              <a:t>Downloadable / SMS-able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266944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E6878"/>
                </a:solidFill>
                <a:latin typeface="Calibri"/>
              </a:rPr>
              <a:t>One-tap .txt download + native SMS share, in the user’s language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371600"/>
            <a:ext cx="4800600" cy="4572000"/>
          </a:xfrm>
          <a:prstGeom prst="roundRect">
            <a:avLst>
              <a:gd name="adj" fmla="val 7000"/>
            </a:avLst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164592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Who this reaches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2402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🌾  A Telugu-speaking farmer learns she gets ₹6,000/yr — in her language, in 90 seconds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1546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👵  A 70-year-old discovers free ₹5-lakh health cover he never claimed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40690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🤰  An expecting mother walks into the Anganwadi with the right papers on the first visit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9834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📝  Field workers (ASHA, NSS volunteers) use it as a counselling tool on any phone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Where this goes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3520440" cy="2651760"/>
          </a:xfrm>
          <a:prstGeom prst="roundRect">
            <a:avLst>
              <a:gd name="adj" fmla="val 9000"/>
            </a:avLst>
          </a:prstGeom>
          <a:solidFill>
            <a:srgbClr val="2A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740C"/>
                </a:solidFill>
                <a:latin typeface="Calibri"/>
              </a:rPr>
              <a:t>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Field-test with one NSS unit &amp; local CSC; add Tamil and Bengali from the same data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600200"/>
            <a:ext cx="3520440" cy="2651760"/>
          </a:xfrm>
          <a:prstGeom prst="roundRect">
            <a:avLst>
              <a:gd name="adj" fmla="val 9000"/>
            </a:avLst>
          </a:prstGeom>
          <a:solidFill>
            <a:srgbClr val="2A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18288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E8B0"/>
                </a:solidFill>
                <a:latin typeface="Calibri"/>
              </a:rPr>
              <a:t>6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22402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78892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WhatsApp bot &amp; IVR line for non-smartphone users; add top state schemes per district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1600200"/>
            <a:ext cx="3520440" cy="2651760"/>
          </a:xfrm>
          <a:prstGeom prst="roundRect">
            <a:avLst>
              <a:gd name="adj" fmla="val 9000"/>
            </a:avLst>
          </a:prstGeom>
          <a:solidFill>
            <a:srgbClr val="2A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8288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12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9056" y="22402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Embed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9056" y="278892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Partner with CSCs, SHGs and Gram Panchayats; usage analytics to spot awareness gaps for policymakers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1">
                <a:solidFill>
                  <a:srgbClr val="E8740C"/>
                </a:solidFill>
                <a:latin typeface="Cambria"/>
              </a:rPr>
              <a:t>Awareness is the last mile. We built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  <a:latin typeface="Calibri"/>
              </a:rPr>
              <a:t>Yojana Sathi  •  open the file, pick your language, find your schemes  •  dhanyavaad • धन्यवाद • ధన్యవాదాలు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